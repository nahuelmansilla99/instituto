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24" Type="http://schemas.openxmlformats.org/officeDocument/2006/relationships/font" Target="fonts/SpaceGrotesk-bold.fntdata"/><Relationship Id="rId12" Type="http://schemas.openxmlformats.org/officeDocument/2006/relationships/slide" Target="slides/slide7.xml"/><Relationship Id="rId23" Type="http://schemas.openxmlformats.org/officeDocument/2006/relationships/font" Target="fonts/SpaceGrotes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Relationship Id="rId6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13.png"/><Relationship Id="rId5" Type="http://schemas.openxmlformats.org/officeDocument/2006/relationships/image" Target="../media/image45.png"/><Relationship Id="rId6" Type="http://schemas.openxmlformats.org/officeDocument/2006/relationships/image" Target="../media/image36.png"/><Relationship Id="rId7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Relationship Id="rId8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935855" y="2219325"/>
            <a:ext cx="232029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WHITEPAPER OFICIAL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265771" y="2581275"/>
            <a:ext cx="366045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ETK-M v1.0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933575" y="3526035"/>
            <a:ext cx="83248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Ecosistema Energético Tokenizado de la Provincia de Buenos Aires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619750" y="4600426"/>
            <a:ext cx="952500" cy="38100"/>
          </a:xfrm>
          <a:prstGeom prst="roundRect">
            <a:avLst>
              <a:gd fmla="val 16667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387"/>
            <a:ext cx="52387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38387"/>
            <a:ext cx="5238750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Resumen Ejecutivo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2728912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7490"/>
                </a:solidFill>
                <a:latin typeface="Space Grotesk"/>
                <a:ea typeface="Space Grotesk"/>
                <a:cs typeface="Space Grotesk"/>
                <a:sym typeface="Space Grotesk"/>
              </a:rPr>
              <a:t>¿Qué es el ETK-M?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376612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Energy Token Mayorista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 una unidad de valor energético no especulativa. No es una criptomoneda financiera ni reemplaza al peso. Es un activo digital respaldado exclusivamente por el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ahorro estructural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las distribuidoras.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72275" y="2728912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7490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Objetivos Principales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153275" y="3338512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Generar una economía energética inteligente.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153275" y="3948112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Incentivar el consumo eficiente.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153275" y="4252912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Estabilizar tarifas sin costo político.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153275" y="4557712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Promover la inyección renovable.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3275" y="33956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3275" y="40052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3275" y="43100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3275" y="4614862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57425"/>
            <a:ext cx="5381625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57425"/>
            <a:ext cx="5381625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Desafíos y Oportunidad Estratégica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866775" y="3209925"/>
            <a:ext cx="503062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Problemática Actual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3857625"/>
            <a:ext cx="47910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sistema enfrenta pérdidas no técnicas elevadas, picos de demanda que saturan la red y subsidios crecientes. La falta de incentivos al usuario final impide la modernización.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34150" y="3209925"/>
            <a:ext cx="503062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La Oportunidad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34150" y="3857625"/>
            <a:ext cx="47910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desregulación parcial del mercado mayorista ha generado una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disminución del 18%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 el costo de compra. Este ahorro permite financiar el ecosistema sin modificar tarifas.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5908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2590800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62162"/>
            <a:ext cx="523875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Definición y Principios del ETK-M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571500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22526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ETK-M es la base del ecosistema. Su emisión es limitada mensualmente y depende de variables físicas y económicas reales.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62162"/>
            <a:ext cx="523875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33575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669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Especulativo: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 valor no flota; es una unidad de cuenta técnica.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41576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38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Respaldo Real: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Emitido solo contra ahorro energético comprobable.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49577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811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Uso Energético: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Sirve para pagar facturas, mejoras e incentivos.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147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1481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14912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9949" y="2242691"/>
            <a:ext cx="4431952" cy="776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95228"/>
            <a:ext cx="5238750" cy="3358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95228"/>
            <a:ext cx="5238750" cy="335845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4316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Fuente de Valor: El Cálculo del Ahorro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4316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2286000" y="1156841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emisión depende exclusivamente de la reducción del costo mayorista. Si no hay ahorro real, no hay emisión de tokens.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62025" y="3885753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7490"/>
                </a:solidFill>
                <a:latin typeface="Space Grotesk"/>
                <a:ea typeface="Space Grotesk"/>
                <a:cs typeface="Space Grotesk"/>
                <a:sym typeface="Space Grotesk"/>
              </a:rPr>
              <a:t>Ejemplo Realista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62025" y="4533453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 una compra de 100 GWh y una baja de precio del 18% ($70 a $57,4):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62025" y="5428803"/>
            <a:ext cx="468058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$1.260.000.000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62025" y="6066978"/>
            <a:ext cx="4457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Ahorro Mensual Generado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72275" y="3885753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7490"/>
                </a:solidFill>
                <a:latin typeface="Space Grotesk"/>
                <a:ea typeface="Space Grotesk"/>
                <a:cs typeface="Space Grotesk"/>
                <a:sym typeface="Space Grotesk"/>
              </a:rPr>
              <a:t>Factor de Emisión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772275" y="4533453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 mantener estabilidad, definimos: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 ETK-M = AR$ 10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ahorro.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72275" y="5428803"/>
            <a:ext cx="468058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126.000.000 ETK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72275" y="6066978"/>
            <a:ext cx="4457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Pool Mensual Disponible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Distribución del Pool Mensual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571500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214437"/>
            <a:ext cx="5238750" cy="539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14437"/>
            <a:ext cx="52387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05287"/>
            <a:ext cx="523875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62000" y="252412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Incentivos: Usuarios y Prosumidores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252412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1214437"/>
            <a:ext cx="5238750" cy="53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1214437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ETK-U (Usuarios)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18621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usuario eficiente gana, el ineficiente no. El cálculo se basa en un "Score" que mide: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4205287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ETK-P (Prosumidores)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48529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Fomenta una red renovable sin subsidios extra. Se premia por: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47725" y="28336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52500" y="28336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Eficiencia energética diaria.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47725" y="31384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52500" y="31384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Reducción de consumo en horas pico.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47725" y="34432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52500" y="34432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Reputación de pago (REU).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47725" y="58245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52500" y="58245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kWh inyectados a la red.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47725" y="61293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52500" y="61293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Calidad de energía (estabilidad de tensión).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3137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43137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Rol Institucional: DSO y Gobierno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571500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962025" y="2824162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7490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Distribuidoras (ETK-DSO)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62025" y="3471862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token actúa como reputación técnica convertible en beneficios regulatorios. Se asigna por reducir pérdidas no técnicas, normalizar barrios críticos, mejorar indicadores SAIDI/SAIFI y modernización digital.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772275" y="2824162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7490"/>
                </a:solidFill>
                <a:latin typeface="Space Grotesk"/>
                <a:ea typeface="Space Grotesk"/>
                <a:cs typeface="Space Grotesk"/>
                <a:sym typeface="Space Grotesk"/>
              </a:rPr>
              <a:t>Fondo Provincial (ETK-Gov)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772275" y="3471862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Funciona como un "Banco Central Energético". El 10% del pool se reserva para intervenir en zonas críticas, atender emergencias, expandir el ecosistema y sostener la universalidad del sistema.</a:t>
            </a:r>
            <a:endParaRPr/>
          </a:p>
        </p:txBody>
      </p:sp>
      <p:pic>
        <p:nvPicPr>
          <p:cNvPr descr="image.png" id="206" name="Google Shape;20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65271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652712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3537"/>
            <a:ext cx="6978699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35949" y="1633537"/>
            <a:ext cx="37845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Integración Tarifaria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71500" y="571500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3587" y="2708076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1505456" y="3470076"/>
            <a:ext cx="511063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Estabilidad Sin Costo Político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66775" y="4232076"/>
            <a:ext cx="638814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ahorro mayorista se redistribuye para mejorar la red y bajar pérdidas, lo que reduce la presión tarifaria futura.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131224" y="1928812"/>
            <a:ext cx="3353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Transparencia Total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131224" y="2576512"/>
            <a:ext cx="319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Cada emisión es auditable. Se publica: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131224" y="5091112"/>
            <a:ext cx="319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 total provincial sin necesidad de blockchain pública.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407449" y="35290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512224" y="3529012"/>
            <a:ext cx="28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Energía comprada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407449" y="38338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512224" y="3833812"/>
            <a:ext cx="28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Precio y Ahorro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407449" y="41386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512224" y="4138612"/>
            <a:ext cx="28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Pool Total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407449" y="44434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8512224" y="4443412"/>
            <a:ext cx="28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Distribución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952500" y="762000"/>
            <a:ext cx="460057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Beneficios Estratégicos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762000" y="762000"/>
            <a:ext cx="57150" cy="1162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762000" y="2305050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Provincia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62000" y="283845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Logra estabilidad tarifaria, reduce subsidios sin costo social y obtiene una herramienta de gestión moderna.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62000" y="3943350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Distribuidoras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762000" y="44767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Mejora la caja, reduce pérdidas técnicas y alinea incentivos para la inversión.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762000" y="5276850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Usuarios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762000" y="58102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Perciben un ingreso energético real, un sistema más justo y participan activamente en la red.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3095625" y="1601241"/>
            <a:ext cx="600075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Futuro de la Energía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1809750" y="2810916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ETK-M es la primera herramienta en Argentina que convierte ahorro real en eficiencia inteligente.</a:t>
            </a:r>
            <a:endParaRPr/>
          </a:p>
        </p:txBody>
      </p:sp>
      <p:pic>
        <p:nvPicPr>
          <p:cNvPr descr="image.png" id="253" name="Google Shape;25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875" y="4327177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4433887" y="4860577"/>
            <a:ext cx="7810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ETK Wallet</a:t>
            </a:r>
            <a:endParaRPr/>
          </a:p>
        </p:txBody>
      </p:sp>
      <p:pic>
        <p:nvPicPr>
          <p:cNvPr descr="image.png" id="255" name="Google Shape;25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4062" y="4327177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5595937" y="4860577"/>
            <a:ext cx="83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Digital Twin</a:t>
            </a:r>
            <a:endParaRPr/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5650" y="4327177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6815137" y="4860577"/>
            <a:ext cx="942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 Eficiente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3650694" y="2085975"/>
            <a:ext cx="4890611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¿Preguntas?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4986337" y="3438525"/>
            <a:ext cx="2219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Gracias por su atención.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4724400" y="4314825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Whitepaper Oficial ETK-M v1.0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Provincia de Buenos Aires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571500" y="571500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26290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341381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41985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1500" y="49833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8" name="Google Shape;2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32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1666875" y="199667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https://www.omac-italy.com/wp-content/uploads/2025/04/The-Crucial-Role-of-Overhead-Power-Lines-in-Modern-Energy-Infrastructure-2-1024x662.png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66875" y="224239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www.omac-italy.com</a:t>
            </a:r>
            <a:endParaRPr/>
          </a:p>
        </p:txBody>
      </p:sp>
      <p:pic>
        <p:nvPicPr>
          <p:cNvPr descr="image.png" id="281" name="Google Shape;28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8799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666875" y="278144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https://smarthousesolar.com/wp-content/uploads/2024/06/iStock-1494330053-1-1024x1024.jpg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66875" y="302716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smarthousesolar.com</a:t>
            </a:r>
            <a:endParaRPr/>
          </a:p>
        </p:txBody>
      </p:sp>
      <p:pic>
        <p:nvPicPr>
          <p:cNvPr descr="image.png" id="284" name="Google Shape;28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727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666875" y="356621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https://www.bizinfograph.com/blog/wp-content/uploads/2024/03/Energy-Consumpton-1024x726.png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66875" y="38119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www.bizinfograph.com</a:t>
            </a:r>
            <a:endParaRPr/>
          </a:p>
        </p:txBody>
      </p:sp>
      <p:pic>
        <p:nvPicPr>
          <p:cNvPr descr="image.png" id="287" name="Google Shape;28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575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1666875" y="435099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https://pub.mdpi-res.com/energies/energies-15-04516/article_deploy/html/images/energies-15-04516-g001.png?1655820303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666875" y="45967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www.mdpi.com</a:t>
            </a:r>
            <a:endParaRPr/>
          </a:p>
        </p:txBody>
      </p:sp>
      <p:pic>
        <p:nvPicPr>
          <p:cNvPr descr="image.png" id="290" name="Google Shape;29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4142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1666875" y="513576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https://images.unsplash.com/photo-1629085601815-c99c5fc6f557?fm=jpg&amp;q=60&amp;w=3000&amp;ixlib=rb-4.1.0&amp;ixid=M3wxMjA3fDB8MHxwaG90by1wYWdlfHx8fGVufDB8fHx8fA%3D%3D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1666875" y="557956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unsplash.com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