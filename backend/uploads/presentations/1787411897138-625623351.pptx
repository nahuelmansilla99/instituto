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6.xml"/><Relationship Id="rId22" Type="http://schemas.openxmlformats.org/officeDocument/2006/relationships/font" Target="fonts/Inter-italic.fntdata"/><Relationship Id="rId10" Type="http://schemas.openxmlformats.org/officeDocument/2006/relationships/slide" Target="slides/slide5.xml"/><Relationship Id="rId21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10" Type="http://schemas.openxmlformats.org/officeDocument/2006/relationships/image" Target="../media/image27.png"/><Relationship Id="rId9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244280"/>
            <a:ext cx="6477000" cy="596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93614"/>
            <a:ext cx="7620000" cy="427077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81075" y="1865114"/>
            <a:ext cx="68008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WHITEPAPER OFICIAL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81075" y="2255639"/>
            <a:ext cx="6800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ETK-M v1.0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43000" y="3227189"/>
            <a:ext cx="6477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Ecosistema Energético Tokenizado de la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Provincia de Buenos Aires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43000" y="4596705"/>
            <a:ext cx="6477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Módulo I — Token Mayorista Basado en Ahorro Estructural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8590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99742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¿Qué es el ETK-M?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445097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una unidad de valor energético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especulativa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emitida exclusivamente a partir del ahorro estructural obtenido por la desregulación del mercado mayorista.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62991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Objetivos Principales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85900"/>
            <a:ext cx="3600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57250" y="405854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Generar una economía energética inteligente.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475708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Incentivar el comportamiento eficiente.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4892873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Promover la inyección renovable.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5310038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Estabilizar la tarifa sin costo político.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Resumen Ejecutivo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85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57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928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10038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52387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47800"/>
            <a:ext cx="52387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62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Problema Estructural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2286000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sistema actual enfrenta desafíos críticos: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77227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Oportunidad Estratégica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72275" y="2286000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desregulación parcial del mercado mayorista reduce los costos de compra (~18%).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3006030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Propuesta: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Utilizar este ahorro para iniciar la economía ETK sin tocar la tarifa ni pedir aportes al tesoro provincial.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57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247775" y="27307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343025" y="2731740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Pérdidas no técnicas elevadas.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47775" y="30050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343025" y="3006030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Picos de demanda que saturan la red.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47775" y="32793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343025" y="3280320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Subsidios crecientes insostenibles.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247775" y="35536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343025" y="3554610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Falta de incentivos reales para el usuario.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18573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El Desafío y La Oportunidad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4570"/>
            <a:ext cx="110490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2286000" y="2160240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emisión del ETK-M depende exclusivamente de la disminución del precio mayorista. No se crea dinero de la nada; se tokeniza la eficiencia.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585495" y="4489995"/>
            <a:ext cx="12801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18%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615975" y="5128170"/>
            <a:ext cx="1219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Est.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880223" y="4489995"/>
            <a:ext cx="185023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$1.26 MM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924276" y="5128170"/>
            <a:ext cx="1762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Ahorro Mensual (Ej.)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730495" y="4489995"/>
            <a:ext cx="189023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Auditado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775501" y="5128170"/>
            <a:ext cx="1800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100% Trazable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Fuente de Valor: Ahorro Real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59683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"El ahorro se reinvierte en quienes generan eficiencia."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Distribución del Pool ETK-M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8365"/>
            <a:ext cx="3492549" cy="293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98365"/>
            <a:ext cx="3492549" cy="293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98365"/>
            <a:ext cx="3492549" cy="293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936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66775" y="3455640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Eficiencia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401761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Score diario basado en consumo inteligente y reducción de demanda en horas pico.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6936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4645074" y="3455640"/>
            <a:ext cx="21802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Reputación (REU)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45074" y="401761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Premio al pago puntual y ausencia de fraude. Construye un perfil de crédito energético.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374" y="26936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8423374" y="3455640"/>
            <a:ext cx="171021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Uso del Token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423374" y="401761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Pago parcial de facturas, bonificaciones y acceso a créditos para electrodomésticos eficientes.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075" y="280794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35562" y="280794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37674" y="280794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ETK-U: Incentivos al Usuario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8590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2344191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Red Inteligente Distribuida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2791866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20% del pool se destina a fomentar la generación distribuida sin necesidad de subsidios directos del estado.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49542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857250" y="385479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Inyección: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Premio por kWh aportado a la red.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7250" y="427196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Calidad: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Bonus por estabilidad de tensión y bajo THD.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57250" y="468912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Picos: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Incentivo extra por inyectar en horas de máxima demanda.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ETK-P: Impulso Renovable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5479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719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89127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762000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ETK-DSO: Distribuidoras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762000"/>
            <a:ext cx="57150" cy="990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213360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Eficiencia Técnica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2695575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distribuidoras no reciben dinero, reciben ETK-DSO como activos de reputación técnica canjeables por beneficios regulatorios.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4082950"/>
            <a:ext cx="5200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KPIs Clave: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57250" y="462840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de pérdidas no técnicas.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57250" y="5045571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Mejora de índices SAIDI / SAIFI.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57250" y="5462736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Normalización de barrios críticos.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57250" y="5879901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Digitalización de la red.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2840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4557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6273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7990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564445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ETK-M permite mantener la estabilidad tarifaria al financiar el gap de costos con las mejoras de eficiencia y el ahorro mayorista.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123950" y="5072955"/>
            <a:ext cx="9944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Año 1 Año 2 Año 3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1643955"/>
            <a:ext cx="99250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Impacto en la Tarifa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5594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5594"/>
            <a:ext cx="3492549" cy="298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5594"/>
            <a:ext cx="3492549" cy="298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866775" y="2670869"/>
            <a:ext cx="15601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Provincia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45074" y="2670869"/>
            <a:ext cx="15301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Usuarios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423374" y="2670869"/>
            <a:ext cx="21002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Distribuidoras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8991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1152525" y="3213794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Estabilidad tarifaria.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152525" y="3630959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de subsidios.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152525" y="4048125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 costo político.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152525" y="4465290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Innovación tecnológica.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8991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930824" y="3213794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Justicia distributiva.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930824" y="3630959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Ingreso real por eficiencia.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930824" y="4048125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 calidad de servicio.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930824" y="4465290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Participación activa.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8991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8709124" y="3213794"/>
            <a:ext cx="193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 flujo de caja.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709124" y="3630959"/>
            <a:ext cx="193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de pérdidas.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709124" y="4048125"/>
            <a:ext cx="193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Incentivos claros.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709124" y="4465290"/>
            <a:ext cx="193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Reputación técnica.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Beneficios del Ecosistema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321379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36309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048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4652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321379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36309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4048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44652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321379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36309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4048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446529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