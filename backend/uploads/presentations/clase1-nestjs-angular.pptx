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  <p:sldId id="257" r:id="rIdSlide2"/>
    <p:sldId id="258" r:id="rIdSlide3"/>
    <p:sldId id="259" r:id="rIdSlide4"/>
    <p:sldId id="260" r:id="rIdSlide5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Master1" Type="http://schemas.openxmlformats.org/officeDocument/2006/relationships/slideMaster" Target="slideMasters/slideMaster1.xml"/>
  <Relationship Id="rIdSlide1" Type="http://schemas.openxmlformats.org/officeDocument/2006/relationships/slide" Target="slides/slide1.xml"/>
  <Relationship Id="rIdSlide2" Type="http://schemas.openxmlformats.org/officeDocument/2006/relationships/slide" Target="slides/slide2.xml"/>
  <Relationship Id="rIdSlide3" Type="http://schemas.openxmlformats.org/officeDocument/2006/relationships/slide" Target="slides/slide3.xml"/>
  <Relationship Id="rIdSlide4" Type="http://schemas.openxmlformats.org/officeDocument/2006/relationships/slide" Target="slides/slide4.xml"/>
  <Relationship Id="rIdSlide5" Type="http://schemas.openxmlformats.org/officeDocument/2006/relationships/slide" Target="slides/slide5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Master>
</file>

<file path=ppt/slides/slide1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</p:bgPr>
    </p:bg>
    <p:spTree>
      <p:nvGrpSpPr><p:cNvPr id="1" name=""/><p:cNvGrpSpPr/><p:nvPr/></p:nvGrpSpPr>
      <p:grpSpPr/>
      
      <!-- Top Title Box -->
      <p:sp>
        <p:nvSpPr>
          <p:cNvPr id="2" name="Title"/>
          <p:cNvSpPr><a:spLocks noGrp="1"/></p:cNvSpPr>
          <p:nvPr/>
        </p:nvSpPr>
        <p:spPr>
          <a:xfrm><a:off x="762000" y="609600"/><a:ext cx="10668000" cy="1143000"/></a:xfrm>
        </p:spPr>
        <p:txBody>
          <a:bodyPr vert="horz" lIns="0" tIns="0" rIns="0" bIns="0" rtlCol="0"/>
          <a:lstStyle/>
          <a:p>
            <a:r>
              <a:rPr lang="es-ES" sz="3600" b="1">
                <a:solidFill><a:srgbClr val="FFFFFF"/></a:solidFill>
              </a:rPr>
              <a:t>Desarrollo Full-Stack con NestJS y Angular</a:t>
            </a:r>
          </a:p>
          <a:p>
            <a:r>
              <a:rPr lang="es-ES" sz="1600" i="1">
                <a:solidFill><a:srgbClr val="818CF8"/></a:solidFill>
              </a:rPr>
              <a:t>Clase 1: Fundamentos y Arquitectura Modular Moderna</a:t>
            </a:r>
          </a:p>
        </p:txBody>
      </p:sp>

      <!-- Content Box -->
      <p:sp>
        <p:nvSpPr>
          <p:cNvPr id="3" name="Content"/>
          <p:cNvSpPr><a:spLocks noGrp="1"/></p:cNvSpPr>
          <p:nvPr/>
        </p:nvSpPr>
        <p:spPr>
          <a:xfrm><a:off x="762000" y="2133600"/><a:ext cx="10668000" cy="3810000"/></a:xfrm>
        </p:spPr>
        <p:txBody>
          <a:bodyPr vert="horz" lIns="0" tIns="0" rIns="0" bIns="0" rtlCol="0"/>
          <a:lstStyle/>
          
        <a:p>
          <a:pPr marL="288000" indent="-288000">
            <a:buChar char="•"/>
          </a:pPr>
          <a:r>
            <a:rPr lang="es-ES" sz="2000" b="0">
              <a:solidFill><a:srgbClr val="CBD5E1"/></a:solidFill>
            </a:rPr>
            <a:t>Estructura modular orientada a dominio para escalabilidad empresarial.</a:t>
          </a:r>
        </a:p>
        <a:p>
          <a:pPr marL="288000" indent="-288000">
            <a:buChar char="•"/>
          </a:pPr>
          <a:r>
            <a:rPr lang="es-ES" sz="2000" b="0">
              <a:solidFill><a:srgbClr val="CBD5E1"/></a:solidFill>
            </a:rPr>
            <a:t>TypeScript estricto de extremo a extremo (Back-end y Front-end).</a:t>
          </a:r>
        </a:p>
        <a:p>
          <a:pPr marL="288000" indent="-288000">
            <a:buChar char="•"/>
          </a:pPr>
          <a:r>
            <a:rPr lang="es-ES" sz="2000" b="0">
              <a:solidFill><a:srgbClr val="CBD5E1"/></a:solidFill>
            </a:rPr>
            <a:t>Inyección de dependencias (IoC) y desacoplamiento de componentes.</a:t>
          </a:r>
        </a:p>
        <a:p>
          <a:pPr marL="288000" indent="-288000">
            <a:buChar char="•"/>
          </a:pPr>
          <a:r>
            <a:rPr lang="es-ES" sz="2000" b="0">
              <a:solidFill><a:srgbClr val="CBD5E1"/></a:solidFill>
            </a:rPr>
            <a:t>Manejo estandarizado de excepciones y validación de DTOs.</a:t>
          </a:r>
        </a:p>
        </p:txBody>
      </p:sp>

      <!-- Footer Badge -->
      <p:sp>
        <p:nvSpPr>
          <p:cNvPr id="4" name="Footer"/>
          <p:cNvSpPr><a:spLocks noGrp="1"/></p:cNvSpPr>
          <p:nvPr/>
        </p:nvSpPr>
        <p:spPr>
          <a:xfrm><a:off x="762000" y="6096000"/><a:ext cx="10668000" cy="457200"/></a:xfrm>
        </p:spPr>
        <p:txBody>
          <a:bodyPr vert="horz" lIns="0" tIns="0" rIns="0" bIns="0" rtlCol="0"/>
          <a:lstStyle/>
          <a:p>
            <a:r>
              <a:rPr lang="es-ES" sz="1200">
                <a:solidFill><a:srgbClr val="64748B"/></a:solidFill>
              </a:rPr>
              <a:t>Instituto Virtual &bull; Diapositiva 1 de 5</a:t>
            </a:r>
          </a:p>
        </p:txBody>
      </p:sp>

    </p:spTree>
  </p:cSld>
</p:sld>
</file>

<file path=ppt/slides/slide2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</p:bgPr>
    </p:bg>
    <p:spTree>
      <p:nvGrpSpPr><p:cNvPr id="1" name=""/><p:cNvGrpSpPr/><p:nvPr/></p:nvGrpSpPr>
      <p:grpSpPr/>
      
      <!-- Top Title Box -->
      <p:sp>
        <p:nvSpPr>
          <p:cNvPr id="2" name="Title"/>
          <p:cNvSpPr><a:spLocks noGrp="1"/></p:cNvSpPr>
          <p:nvPr/>
        </p:nvSpPr>
        <p:spPr>
          <a:xfrm><a:off x="762000" y="609600"/><a:ext cx="10668000" cy="1143000"/></a:xfrm>
        </p:spPr>
        <p:txBody>
          <a:bodyPr vert="horz" lIns="0" tIns="0" rIns="0" bIns="0" rtlCol="0"/>
          <a:lstStyle/>
          <a:p>
            <a:r>
              <a:rPr lang="es-ES" sz="3600" b="1">
                <a:solidFill><a:srgbClr val="FFFFFF"/></a:solidFill>
              </a:rPr>
              <a:t>Módulos y Controladores en NestJS</a:t>
            </a:r>
          </a:p>
          <a:p>
            <a:r>
              <a:rPr lang="es-ES" sz="1600" i="1">
                <a:solidFill><a:srgbClr val="818CF8"/></a:solidFill>
              </a:rPr>
              <a:t>Patrón Controller-Service-Repository</a:t>
            </a:r>
          </a:p>
        </p:txBody>
      </p:sp>

      <!-- Content Box -->
      <p:sp>
        <p:nvSpPr>
          <p:cNvPr id="3" name="Content"/>
          <p:cNvSpPr><a:spLocks noGrp="1"/></p:cNvSpPr>
          <p:nvPr/>
        </p:nvSpPr>
        <p:spPr>
          <a:xfrm><a:off x="762000" y="2133600"/><a:ext cx="10668000" cy="3810000"/></a:xfrm>
        </p:spPr>
        <p:txBody>
          <a:bodyPr vert="horz" lIns="0" tIns="0" rIns="0" bIns="0" rtlCol="0"/>
          <a:lstStyle/>
          
        <a:p>
          <a:pPr marL="288000" indent="-288000">
            <a:buChar char="•"/>
          </a:pPr>
          <a:r>
            <a:rPr lang="es-ES" sz="2000" b="0">
              <a:solidFill><a:srgbClr val="CBD5E1"/></a:solidFill>
            </a:rPr>
            <a:t>Decorador @Module() como contenedor de dependencias lógicas.</a:t>
          </a:r>
        </a:p>
        <a:p>
          <a:pPr marL="288000" indent="-288000">
            <a:buChar char="•"/>
          </a:pPr>
          <a:r>
            <a:rPr lang="es-ES" sz="2000" b="0">
              <a:solidFill><a:srgbClr val="CBD5E1"/></a:solidFill>
            </a:rPr>
            <a:t>Controladores (@Controller) dedicados a gestionar rutas y respuestas HTTP.</a:t>
          </a:r>
        </a:p>
        <a:p>
          <a:pPr marL="288000" indent="-288000">
            <a:buChar char="•"/>
          </a:pPr>
          <a:r>
            <a:rPr lang="es-ES" sz="2000" b="0">
              <a:solidFill><a:srgbClr val="CBD5E1"/></a:solidFill>
            </a:rPr>
            <a:t>Servicios (@Injectable) para aislar toda la lógica de negocio.</a:t>
          </a:r>
        </a:p>
        <a:p>
          <a:pPr marL="288000" indent="-288000">
            <a:buChar char="•"/>
          </a:pPr>
          <a:r>
            <a:rPr lang="es-ES" sz="2000" b="0">
              <a:solidFill><a:srgbClr val="CBD5E1"/></a:solidFill>
            </a:rPr>
            <a:t>Middlewares, Guards y Pipes para seguridad y validación declarativa.</a:t>
          </a:r>
        </a:p>
        </p:txBody>
      </p:sp>

      <!-- Footer Badge -->
      <p:sp>
        <p:nvSpPr>
          <p:cNvPr id="4" name="Footer"/>
          <p:cNvSpPr><a:spLocks noGrp="1"/></p:cNvSpPr>
          <p:nvPr/>
        </p:nvSpPr>
        <p:spPr>
          <a:xfrm><a:off x="762000" y="6096000"/><a:ext cx="10668000" cy="457200"/></a:xfrm>
        </p:spPr>
        <p:txBody>
          <a:bodyPr vert="horz" lIns="0" tIns="0" rIns="0" bIns="0" rtlCol="0"/>
          <a:lstStyle/>
          <a:p>
            <a:r>
              <a:rPr lang="es-ES" sz="1200">
                <a:solidFill><a:srgbClr val="64748B"/></a:solidFill>
              </a:rPr>
              <a:t>Instituto Virtual &bull; Diapositiva 2 de 5</a:t>
            </a:r>
          </a:p>
        </p:txBody>
      </p:sp>

    </p:spTree>
  </p:cSld>
</p:sld>
</file>

<file path=ppt/slides/slide3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</p:bgPr>
    </p:bg>
    <p:spTree>
      <p:nvGrpSpPr><p:cNvPr id="1" name=""/><p:cNvGrpSpPr/><p:nvPr/></p:nvGrpSpPr>
      <p:grpSpPr/>
      
      <!-- Top Title Box -->
      <p:sp>
        <p:nvSpPr>
          <p:cNvPr id="2" name="Title"/>
          <p:cNvSpPr><a:spLocks noGrp="1"/></p:cNvSpPr>
          <p:nvPr/>
        </p:nvSpPr>
        <p:spPr>
          <a:xfrm><a:off x="762000" y="609600"/><a:ext cx="10668000" cy="1143000"/></a:xfrm>
        </p:spPr>
        <p:txBody>
          <a:bodyPr vert="horz" lIns="0" tIns="0" rIns="0" bIns="0" rtlCol="0"/>
          <a:lstStyle/>
          <a:p>
            <a:r>
              <a:rPr lang="es-ES" sz="3600" b="1">
                <a:solidFill><a:srgbClr val="FFFFFF"/></a:solidFill>
              </a:rPr>
              <a:t>Persistencia de Datos con TypeORM y PostgreSQL</a:t>
            </a:r>
          </a:p>
          <a:p>
            <a:r>
              <a:rPr lang="es-ES" sz="1600" i="1">
                <a:solidFill><a:srgbClr val="818CF8"/></a:solidFill>
              </a:rPr>
              <a:t>Modelado y Mapeo Objeto-Relacional</a:t>
            </a:r>
          </a:p>
        </p:txBody>
      </p:sp>

      <!-- Content Box -->
      <p:sp>
        <p:nvSpPr>
          <p:cNvPr id="3" name="Content"/>
          <p:cNvSpPr><a:spLocks noGrp="1"/></p:cNvSpPr>
          <p:nvPr/>
        </p:nvSpPr>
        <p:spPr>
          <a:xfrm><a:off x="762000" y="2133600"/><a:ext cx="10668000" cy="3810000"/></a:xfrm>
        </p:spPr>
        <p:txBody>
          <a:bodyPr vert="horz" lIns="0" tIns="0" rIns="0" bIns="0" rtlCol="0"/>
          <a:lstStyle/>
          
        <a:p>
          <a:pPr marL="288000" indent="-288000">
            <a:buChar char="•"/>
          </a:pPr>
          <a:r>
            <a:rPr lang="es-ES" sz="2000" b="0">
              <a:solidFill><a:srgbClr val="CBD5E1"/></a:solidFill>
            </a:rPr>
            <a:t>Entidades (@Entity) con tipos fuertemente tipados y llaves primarias UUID.</a:t>
          </a:r>
        </a:p>
        <a:p>
          <a:pPr marL="288000" indent="-288000">
            <a:buChar char="•"/>
          </a:pPr>
          <a:r>
            <a:rPr lang="es-ES" sz="2000" b="0">
              <a:solidFill><a:srgbClr val="CBD5E1"/></a:solidFill>
            </a:rPr>
            <a:t>Relaciones complejas (@OneToMany, @ManyToOne, @ManyToMany).</a:t>
          </a:r>
        </a:p>
        <a:p>
          <a:pPr marL="288000" indent="-288000">
            <a:buChar char="•"/>
          </a:pPr>
          <a:r>
            <a:rPr lang="es-ES" sz="2000" b="0">
              <a:solidFill><a:srgbClr val="CBD5E1"/></a:solidFill>
            </a:rPr>
            <a:t>Repositorios inyectados para operaciones CRUD optimizadas.</a:t>
          </a:r>
        </a:p>
        <a:p>
          <a:pPr marL="288000" indent="-288000">
            <a:buChar char="•"/>
          </a:pPr>
          <a:r>
            <a:rPr lang="es-ES" sz="2000" b="0">
              <a:solidFill><a:srgbClr val="CBD5E1"/></a:solidFill>
            </a:rPr>
            <a:t>Uso seguro de migraciones en entornos de staging y producción.</a:t>
          </a:r>
        </a:p>
        </p:txBody>
      </p:sp>

      <!-- Footer Badge -->
      <p:sp>
        <p:nvSpPr>
          <p:cNvPr id="4" name="Footer"/>
          <p:cNvSpPr><a:spLocks noGrp="1"/></p:cNvSpPr>
          <p:nvPr/>
        </p:nvSpPr>
        <p:spPr>
          <a:xfrm><a:off x="762000" y="6096000"/><a:ext cx="10668000" cy="457200"/></a:xfrm>
        </p:spPr>
        <p:txBody>
          <a:bodyPr vert="horz" lIns="0" tIns="0" rIns="0" bIns="0" rtlCol="0"/>
          <a:lstStyle/>
          <a:p>
            <a:r>
              <a:rPr lang="es-ES" sz="1200">
                <a:solidFill><a:srgbClr val="64748B"/></a:solidFill>
              </a:rPr>
              <a:t>Instituto Virtual &bull; Diapositiva 3 de 5</a:t>
            </a:r>
          </a:p>
        </p:txBody>
      </p:sp>

    </p:spTree>
  </p:cSld>
</p:sld>
</file>

<file path=ppt/slides/slide4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</p:bgPr>
    </p:bg>
    <p:spTree>
      <p:nvGrpSpPr><p:cNvPr id="1" name=""/><p:cNvGrpSpPr/><p:nvPr/></p:nvGrpSpPr>
      <p:grpSpPr/>
      
      <!-- Top Title Box -->
      <p:sp>
        <p:nvSpPr>
          <p:cNvPr id="2" name="Title"/>
          <p:cNvSpPr><a:spLocks noGrp="1"/></p:cNvSpPr>
          <p:nvPr/>
        </p:nvSpPr>
        <p:spPr>
          <a:xfrm><a:off x="762000" y="609600"/><a:ext cx="10668000" cy="1143000"/></a:xfrm>
        </p:spPr>
        <p:txBody>
          <a:bodyPr vert="horz" lIns="0" tIns="0" rIns="0" bIns="0" rtlCol="0"/>
          <a:lstStyle/>
          <a:p>
            <a:r>
              <a:rPr lang="es-ES" sz="3600" b="1">
                <a:solidFill><a:srgbClr val="FFFFFF"/></a:solidFill>
              </a:rPr>
              <a:t>Frontend Reactivo con Angular Standalone</a:t>
            </a:r>
          </a:p>
          <a:p>
            <a:r>
              <a:rPr lang="es-ES" sz="1600" i="1">
                <a:solidFill><a:srgbClr val="818CF8"/></a:solidFill>
              </a:rPr>
              <a:t>Componentes modernos y arquitectura reactiva</a:t>
            </a:r>
          </a:p>
        </p:txBody>
      </p:sp>

      <!-- Content Box -->
      <p:sp>
        <p:nvSpPr>
          <p:cNvPr id="3" name="Content"/>
          <p:cNvSpPr><a:spLocks noGrp="1"/></p:cNvSpPr>
          <p:nvPr/>
        </p:nvSpPr>
        <p:spPr>
          <a:xfrm><a:off x="762000" y="2133600"/><a:ext cx="10668000" cy="3810000"/></a:xfrm>
        </p:spPr>
        <p:txBody>
          <a:bodyPr vert="horz" lIns="0" tIns="0" rIns="0" bIns="0" rtlCol="0"/>
          <a:lstStyle/>
          
        <a:p>
          <a:pPr marL="288000" indent="-288000">
            <a:buChar char="•"/>
          </a:pPr>
          <a:r>
            <a:rPr lang="es-ES" sz="2000" b="0">
              <a:solidFill><a:srgbClr val="CBD5E1"/></a:solidFill>
            </a:rPr>
            <a:t>Arquitectura Standalone: Sin necesidad de NgModules tradicionales.</a:t>
          </a:r>
        </a:p>
        <a:p>
          <a:pPr marL="288000" indent="-288000">
            <a:buChar char="•"/>
          </a:pPr>
          <a:r>
            <a:rPr lang="es-ES" sz="2000" b="0">
              <a:solidFill><a:srgbClr val="CBD5E1"/></a:solidFill>
            </a:rPr>
            <a:t>Angular Signals para un estado reactivo fino y de alto rendimiento.</a:t>
          </a:r>
        </a:p>
        <a:p>
          <a:pPr marL="288000" indent="-288000">
            <a:buChar char="•"/>
          </a:pPr>
          <a:r>
            <a:rPr lang="es-ES" sz="2000" b="0">
              <a:solidFill><a:srgbClr val="CBD5E1"/></a:solidFill>
            </a:rPr>
            <a:t>Enrutamiento diferido (Lazy Loading) para carga ultra rápida.</a:t>
          </a:r>
        </a:p>
        <a:p>
          <a:pPr marL="288000" indent="-288000">
            <a:buChar char="•"/>
          </a:pPr>
          <a:r>
            <a:rPr lang="es-ES" sz="2000" b="0">
              <a:solidFill><a:srgbClr val="CBD5E1"/></a:solidFill>
            </a:rPr>
            <a:t>Servicios HTTP tipados con interceptores de autenticación JWT.</a:t>
          </a:r>
        </a:p>
        </p:txBody>
      </p:sp>

      <!-- Footer Badge -->
      <p:sp>
        <p:nvSpPr>
          <p:cNvPr id="4" name="Footer"/>
          <p:cNvSpPr><a:spLocks noGrp="1"/></p:cNvSpPr>
          <p:nvPr/>
        </p:nvSpPr>
        <p:spPr>
          <a:xfrm><a:off x="762000" y="6096000"/><a:ext cx="10668000" cy="457200"/></a:xfrm>
        </p:spPr>
        <p:txBody>
          <a:bodyPr vert="horz" lIns="0" tIns="0" rIns="0" bIns="0" rtlCol="0"/>
          <a:lstStyle/>
          <a:p>
            <a:r>
              <a:rPr lang="es-ES" sz="1200">
                <a:solidFill><a:srgbClr val="64748B"/></a:solidFill>
              </a:rPr>
              <a:t>Instituto Virtual &bull; Diapositiva 4 de 5</a:t>
            </a:r>
          </a:p>
        </p:txBody>
      </p:sp>

    </p:spTree>
  </p:cSld>
</p:sld>
</file>

<file path=ppt/slides/slide5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</p:bgPr>
    </p:bg>
    <p:spTree>
      <p:nvGrpSpPr><p:cNvPr id="1" name=""/><p:cNvGrpSpPr/><p:nvPr/></p:nvGrpSpPr>
      <p:grpSpPr/>
      
      <!-- Top Title Box -->
      <p:sp>
        <p:nvSpPr>
          <p:cNvPr id="2" name="Title"/>
          <p:cNvSpPr><a:spLocks noGrp="1"/></p:cNvSpPr>
          <p:nvPr/>
        </p:nvSpPr>
        <p:spPr>
          <a:xfrm><a:off x="762000" y="609600"/><a:ext cx="10668000" cy="1143000"/></a:xfrm>
        </p:spPr>
        <p:txBody>
          <a:bodyPr vert="horz" lIns="0" tIns="0" rIns="0" bIns="0" rtlCol="0"/>
          <a:lstStyle/>
          <a:p>
            <a:r>
              <a:rPr lang="es-ES" sz="3600" b="1">
                <a:solidFill><a:srgbClr val="FFFFFF"/></a:solidFill>
              </a:rPr>
              <a:t>Resumen y Próximos Pasos</a:t>
            </a:r>
          </a:p>
          <a:p>
            <a:r>
              <a:rPr lang="es-ES" sz="1600" i="1">
                <a:solidFill><a:srgbClr val="818CF8"/></a:solidFill>
              </a:rPr>
              <a:t>Preparación para el Cuestionario de Evaluación</a:t>
            </a:r>
          </a:p>
        </p:txBody>
      </p:sp>

      <!-- Content Box -->
      <p:sp>
        <p:nvSpPr>
          <p:cNvPr id="3" name="Content"/>
          <p:cNvSpPr><a:spLocks noGrp="1"/></p:cNvSpPr>
          <p:nvPr/>
        </p:nvSpPr>
        <p:spPr>
          <a:xfrm><a:off x="762000" y="2133600"/><a:ext cx="10668000" cy="3810000"/></a:xfrm>
        </p:spPr>
        <p:txBody>
          <a:bodyPr vert="horz" lIns="0" tIns="0" rIns="0" bIns="0" rtlCol="0"/>
          <a:lstStyle/>
          
        <a:p>
          <a:pPr marL="288000" indent="-288000">
            <a:buChar char="•"/>
          </a:pPr>
          <a:r>
            <a:rPr lang="es-ES" sz="2000" b="0">
              <a:solidFill><a:srgbClr val="CBD5E1"/></a:solidFill>
            </a:rPr>
            <a:t>Revisa cada diapositiva para consolidar los conceptos teóricos.</a:t>
          </a:r>
        </a:p>
        <a:p>
          <a:pPr marL="288000" indent="-288000">
            <a:buChar char="•"/>
          </a:pPr>
          <a:r>
            <a:rPr lang="es-ES" sz="2000" b="0">
              <a:solidFill><a:srgbClr val="CBD5E1"/></a:solidFill>
            </a:rPr>
            <a:t>Accede a la pestaña de Guía y Contenido para ver el código paso a paso.</a:t>
          </a:r>
        </a:p>
        <a:p>
          <a:pPr marL="288000" indent="-288000">
            <a:buChar char="•"/>
          </a:pPr>
          <a:r>
            <a:rPr lang="es-ES" sz="2000" b="0">
              <a:solidFill><a:srgbClr val="CBD5E1"/></a:solidFill>
            </a:rPr>
            <a:t>Rinde el examen de opción múltiple con mínimo 80% de aprobación.</a:t>
          </a:r>
        </a:p>
        <a:p>
          <a:pPr marL="288000" indent="-288000">
            <a:buChar char="•"/>
          </a:pPr>
          <a:r>
            <a:rPr lang="es-ES" sz="2000" b="0">
              <a:solidFill><a:srgbClr val="CBD5E1"/></a:solidFill>
            </a:rPr>
            <a:t>¡Al aprobar, se desbloqueará inmediatamente la siguiente lección!</a:t>
          </a:r>
        </a:p>
        </p:txBody>
      </p:sp>

      <!-- Footer Badge -->
      <p:sp>
        <p:nvSpPr>
          <p:cNvPr id="4" name="Footer"/>
          <p:cNvSpPr><a:spLocks noGrp="1"/></p:cNvSpPr>
          <p:nvPr/>
        </p:nvSpPr>
        <p:spPr>
          <a:xfrm><a:off x="762000" y="6096000"/><a:ext cx="10668000" cy="457200"/></a:xfrm>
        </p:spPr>
        <p:txBody>
          <a:bodyPr vert="horz" lIns="0" tIns="0" rIns="0" bIns="0" rtlCol="0"/>
          <a:lstStyle/>
          <a:p>
            <a:r>
              <a:rPr lang="es-ES" sz="1200">
                <a:solidFill><a:srgbClr val="64748B"/></a:solidFill>
              </a:rPr>
              <a:t>Instituto Virtual &bull; Diapositiva 5 de 5</a:t>
            </a:r>
          </a:p>
        </p:txBody>
      </p:sp>

    </p:spTree>
  </p:cSld>
</p:sld>
</file>